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8"/>
  </p:notesMasterIdLst>
  <p:sldIdLst>
    <p:sldId id="278" r:id="rId3"/>
    <p:sldId id="257" r:id="rId4"/>
    <p:sldId id="258" r:id="rId5"/>
    <p:sldId id="259" r:id="rId6"/>
    <p:sldId id="260" r:id="rId7"/>
    <p:sldId id="261" r:id="rId8"/>
    <p:sldId id="262" r:id="rId9"/>
    <p:sldId id="279" r:id="rId10"/>
    <p:sldId id="280" r:id="rId11"/>
    <p:sldId id="265" r:id="rId12"/>
    <p:sldId id="281" r:id="rId13"/>
    <p:sldId id="282" r:id="rId14"/>
    <p:sldId id="283" r:id="rId15"/>
    <p:sldId id="284" r:id="rId16"/>
    <p:sldId id="264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6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8" autoAdjust="0"/>
    <p:restoredTop sz="83712" autoAdjust="0"/>
  </p:normalViewPr>
  <p:slideViewPr>
    <p:cSldViewPr snapToGrid="0">
      <p:cViewPr varScale="1">
        <p:scale>
          <a:sx n="87" d="100"/>
          <a:sy n="87" d="100"/>
        </p:scale>
        <p:origin x="126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今天我将汇报我的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调研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成果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——面向AI大模型时代的TsFile文件格式优化。随着AI技术的发展，特别是大模型训练对时序数据的访问模式提出了新的挑战。本次研究针对这些挑战，提出了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两个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优化方案，包括GORILLA重同步标记、以及多分辨率Compaction。接下来，我将详细介绍我的研究背景、方法和成果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本次汇报将分为六个部分。首先，我将介绍研究的背景与动机，阐述AI时代时序数据访问模式的变化。其次，会深入分析TsFile的架构，并定位其存在的三层性能瓶颈。接着，我会展示我建立的基准测试框架及其结果，并说明如何修正计量偏差。之后，将详细介绍我们提出的两个核心优化方案：GORILLA Resync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Marker和多分辨率Compaction。最后，对本次研究进行总结并展望未来的工作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首先我们来看研究背景。AI大模型的训练任务，其数据访问模式与传统的IoT监控查询有显著不同。AI训练场景需要访问跨月甚至跨年的长周期数据，且通常只涉及少数列，采样率极低，访问模式是随机的窗口读取。相比之下，传统IoT查询则聚焦于短时间窗口，通常需要全列和全精度的数据，且以顺序扫描为主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这种新模式与传统存储格式之间暴露了一个核心矛盾：以广泛使用的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TsFile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为例，它的最小读取和解码单元是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Page。这意味着，在AI训练时，即便我们只需要Page中的几个数据点，也必须读取和解码整个Page。这种“大材小用”的方式造成了巨大的性能浪费，这正是我们的研究要解决的问题。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为了进行公平的对比，我首先生成了一个模拟工业IoT场景的数据集。这个数据集包含30个设备，每个设备有15个测点，数据覆盖10天，采样间隔为2秒。数据特征丰富，包括了振荡、趋势、噪声和异常值，以确保能真实反映工业场景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然后，我们将这份数据分别存储为四种主流的文件格式：Parquet、Arrow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IPC、HDF5和TsFile，并采用了各自推荐的编码和压缩方式。从页面下方的卡片对比中可以直观地看到，不同格式在单设备存储大小上存在显著差异，其中Parquet体积最小，而Arrow </a:t>
            </a:r>
            <a:r>
              <a:rPr lang="en-US" sz="1400" b="0" i="0" u="none" strike="noStrike" err="1">
                <a:solidFill>
                  <a:srgbClr val="000000"/>
                </a:solidFill>
              </a:rPr>
              <a:t>IPC</a:t>
            </a:r>
            <a:r>
              <a:rPr lang="en-US" sz="1400" b="0" i="0" u="none" strike="noStrike">
                <a:solidFill>
                  <a:srgbClr val="000000"/>
                </a:solidFill>
              </a:rPr>
              <a:t>体积最大。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全面评估各文件格式的性能，我们设计了四种具有代表性的查询模式。P1顺序扫描用于测试最大吞吐能力。P2列子集用于评估列裁剪的效率。P3降采样和P4随机窗口是我们关注的重点，它们分别模拟了AI训练中常见的降采样和随机小批量读取场景，能够精准地暴露传统文件格式在AI应用中的性能瓶颈。所有测试都进行了多次重复以保证结果的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跨格式对比的公平性至关重要。为此，我从六个方面进行了严格的控制。强制所有测试在单线程下运行，以排除多线程库带来的干扰。我们开发了统一的度量框架来收集性能指标。我们对Java实现的TsFile进行了预热，以消除JIT编译的影响。同时，我们对齐了文件组织方式、时间戳格式和I/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O计量方法。这些措施共同确保了我们的基准测试结果是可靠和可比较的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展示结果之前，我们先明确一下本次Benchmark所使用的关键性能指标。除了常规的墙钟时间和CPU时间外，我们特别关注`read_amplification`，即读取放大率。它等于实际读取的压缩字节数与查询真正需要的有用字节数的比值。这个指标直接反映了数据读取的效率，是衡量文件格式在AI场景下性能的核心标准。此外，我们还会监控内存占用的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这是我们的基准测试结果。从墙钟时间来看，TsFile在模拟AI DataLoader的P4随机窗口模式下表现出色，显著优于Parquet和Arrow。然而，在P3降采样模式下，我们发现了一个严重问题：尽管TsFile的查询时间很短，但它的读取放大率高达189倍。这揭示了一个隐藏的性能瓶颈：TsFile在处理降采样查询时，进行了大量不必要的解码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这一页我们继续讨论列子集查询的性能表现，重点对比在 50% 和 100% 这两种典型选择率下的情况。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左侧表格展示了读取约一半列（7-8列）的场景。我们可以看到，TsFile 在 ReadAmp 这一关键指标上依然保持了显著优势，达到了 0.4 倍。而右侧的全列扫描场景中，这一优势得到了延续。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值得注意的是底部的三个观察点：第一，TsFile 的 ReadAmp 表现稳定，证明了其底层存储结构对列裁剪的精确支持；第二，Parquet 在全列读取时表现出了明显的性能劣势，这主要归因于其元数据管理和 API 调用方式在高列数场景下的开销累积；第三，Arrow 表现出了有趣的“反常”特性——全列读比单列读快，这其实反映了它在内存计算方面的优势与磁盘 I/O 策略之间的权衡关系。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总的来说，在列子集查询场景下，TsFile 凭借优秀的列裁剪能力和低开销，展现了均衡且优异的性能。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这一页展示了降采样场景下的性能测试结果。这是一个非常关键的测试，它模拟了在全时域范围内进行查询，但最终结果只展示一小部分数据的情况。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左侧是Step=1，也就是全量数据查询。右侧是Step=10，即每10个点中只取1个点展示。大家可以重点关注ReadAmp（读放大倍数）和Wall Time（耗时）两个指标。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结论非常明显：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随着 Step 的增大，读放大倍数显著增加。这是因为所有格式都需要全量读取数据，有效数据量的减少直接导致了效率的下降。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TsFile 在耗时上表现出极高的稳定性，无论放大比是多少，耗时基本保持在 0.03秒左右，证明其在数据处理上的高效性。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Arrow 的放大比达到惊人的 158倍，为了读取一点点有效数据，要付出巨大的IO成本，在降采样场景下表现最差。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各位，我们继续看P3页关于降采样的实验数据。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屏幕上展示了Step=100和Step=500两种采样频率下的性能对比。左侧表格是每100个点取1个，右侧表格是每500个点取1个。我们主要关注两个指标：ReadAmp（读取放大倍数）和Wall Time（耗时）。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红色的ReadAmp数据，我们可以看到随着Step的增大，也就是采样越稀疏，读取放大倍数急剧增加。特别是Arrow格式，在Step=500时，ReadAmp高达7921倍。这意味着系统为了得到最终的864个点，竟然读取了近8000倍的数据量，99.8%的数据在解压后被丢弃，这是极大的资源浪费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其次，我们观察耗时。请注意，不管Step是100还是500，四种格式的耗时几乎没有变化。这说明，性能瓶颈并不在于数据过滤的计算逻辑，而在于必须先读取全量数据，这是典型的“读全量、取少量”场景。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这正是为什么我们需要优化的原因，也是本文方案一和方案二试图解决的核心痛点：如何避免读全量，从而减少I/O开销和计算浪费。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本页展示了在模拟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AI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DataLoader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随机窗口访问场景下的测试结果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测试条件：对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5 台设备、3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个测点、每窗口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512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点，进行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500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次随机窗口查询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结果分析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：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1.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TsFile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表现最优：仅耗时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0.465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秒，且读放大仅为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0.4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倍。这得益于其高效的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Chunk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级元数据索引，能在磁盘层面直接过滤掉无关数据，极大减少了IO和计算开销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2. Parquet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性能最差：耗时长达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746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秒，与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TsFile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有 1600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倍的差距。主要原因是其不支持高效的随机时间窗口读取，每次查询都需重新打开文件，产生巨大的系统开销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3. Arrow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读放大严重：高达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15.8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倍，因为它将整个文件读入内存后才做过滤，效率极低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结论：对于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AI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训练中常见的大量随机窗口读取场景，TsFile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具有性能优势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这一页总结了我们在基准测试中发现的四个关键结论。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第一，P4场景的随机窗口查询中，TsFile展现了碾压级优势，比其他格式快了近1600倍，充分验证了其在AI训练场景下的架构优势。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第二，P3场景的降采样是目前的行业痛点，所有格式都会有严重的读放大问题，虽然TsFile不是最差的，但这依然是我们未来需要重点解决的短板。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第三，P2场景的列子集查询中，TsFile的列裁剪技术非常成熟，能够做到恒定的低读放大，保证了查询的高效性。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第四，P1场景的顺序扫描是基准测试，所有格式表现正常，无明显异常。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总体来看，TsFile在AI训练核心的随机和列裁剪场景表现优异，具备大规模落地的技术条件。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为了深入理解性能瓶颈的根源，我们反编译并分析了TsFile的读取链路。我们发现，读取一个Page会依次经过三个层次，每个层次都存在瓶颈。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I/O层必须读取整个压缩的Page，无法按需读取部分数据。其次，SNAPPY解压层必须对整个Page进行解压，不支持流式处理。最后，也是最关键的，GORILLA解码层由于其XOR差分编码的特性，必须从头开始顺序解码，无法直接跳转到中间位置。这意味着即使我们只需要一条数据，也必须解码整个Page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这三个瓶颈叠加，导致在降采样时，绝大部分解码工作都是无用功，最终数据被丢弃。这证明了性能问题是文件格式设计层面的固有缺陷。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GORILLA解码无法跳读的问题，我们提出了第一个优化方案：在编码流中插入重同步点。具体来说，我们在连续的GORILLA编码流中，每隔一定数量的值，就插入一个未经压缩的原始值作为Marker。这样，解码器就可以通过这些Marker构建索引，在需要跳读时，快速定位到最近的Marker，然后从该点开始解码，从而避免了解码整个Page的巨大开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我们的方案并非凭空产生，而是站在了巨人的肩膀上。我们借鉴了Lance论文中关于MiniBlock的思想，将分段解码的概念应用到了值编码层。同时，我们也参考了Parquet V3提案中索引跳读的理念，并将其粒度下沉到了Page内部。此外，Meta的Nimble架构中关于块编码的思想，也启发我们通过固定间隔的Marker来实现解码单元的独立性。这些借鉴都在不同的技术层面进行了创新和改造。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现核心是一个约230行的Java类`GorillaResyncCodec`。它包含了编码、全量解码和跳读解码的核心方法。关键的设计在于，我们没有修改TsFile的源代码，而是通过包装的方式实现了功能扩展。在编码时，我们将数据流按固定间隔分段，并为每段创建Marker。在解码时，跳读方法会利用这些Marker进行快速定位。我们通过严格的测试验证了该实现的正确性，确保解码结果与原始数据完全一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方案一的测试结果。可以看到，随着降采样步长的增加，我们的方案带来的性能提升非常显著。特别是在step=500时，解码速度达到了惊人的23倍，实际解码的值数量从43万减少到了不足3万，节省了超过93%的解码计算。这证明了我们的Resync Marker机制是非常有效的。但需要注意的是，这个方案只解决了解码层的问题，I/O和解压的开销依然存在。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从根本上解决问题，我们提出了第二个方案：多分辨率Compaction。这个方案的核心思想是，与其在查询时实时降采样，不如在数据写入或合并时，就预先计算好不同分辨率的降采样数据并存储为独立的文件。当AI训练任务需要降采样数据时，我们的查询引擎可以直接路由到这些小得多的预生成文件上，从而彻底避免了读取、解压和解码大量无用数据的开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方案二的思想借鉴了数据仓库领域经典的Data Cube（数据立方体）或物化视图概念。我们将预计算和预聚合的思想，创新性地应用到了时序数据的时间维度降采样上。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，我们的方案与最新的NeaTS论文中的思想也可以形成很好的互补。NeaTS关注的是在单个文件内如何用函数近似来实现高压缩比，而我们关注的是如何通过多文件组织来实现高效的随机访问。两者结合，可以达到更好的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实现主要包含两个类。一个用于构建多分辨率文件，另一个用于进行性能对比测试。我们为每个设备生成了三个文件：全分辨率的L0，10倍降采样的L10，和100倍降采样的L100。从文件大小可以看出，降采样文件非常小。整个多分辨率方案带来的额外存储开销仅为0.1%。查询时，我们的路由逻辑会根据降采样步长，自动选择最合适的文件进行读取，整个过程对用户透明，且无需修改TsFile的核心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案二的测试结果非常令人振奋。可以看到，在各个降采样步长下，性能都得到了巨大的提升。特别是在step=500时，查询加速了近25倍，更重要的是，读取放大率从惊人的2910倍骤降到了几乎可以忽略的0.5倍！这意味着我们几乎完全消除了I/O和计算的浪费。这得益于我们同时解决了I/O、解压、解码这三层瓶颈。而这一切的代价，仅仅是0.1%的额外存储空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对比一下这两个方案。方案一工作在编码层，主要解决了解码效率的问题，但无法消除I/O和解压的开销。方案二工作在存储层，通过预计算从根本上解决了全链路的性能瓶颈。从读取放大率和存储开销来看，方案二显然更为彻底和高效。值得强调的是，这两个方案是互补的，而不是互斥的。将它们结合使用，可以达到1+1&gt;2的效果，实现更极致的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最后，关于未来的工作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下一步可以把工作集成到主分支之内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主要涉及编码器、解码器、Compaction任务和查询路由等模块的修改。展望未来，我们计划在更大规模的数据集上验证方案的性能，并探索与更先进压缩算法的融合。最终目标是实现两个方案的叠加，将TsFile的性能推向一个新的高度，更好地服务于AI大模型时代的应用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5" Type="http://schemas.openxmlformats.org/officeDocument/2006/relationships/image" Target="../media/image20.svg"/><Relationship Id="rId4" Type="http://schemas.openxmlformats.org/officeDocument/2006/relationships/image" Target="../media/image4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7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46.svg"/><Relationship Id="rId4" Type="http://schemas.openxmlformats.org/officeDocument/2006/relationships/image" Target="../media/image4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svg"/><Relationship Id="rId5" Type="http://schemas.openxmlformats.org/officeDocument/2006/relationships/image" Target="../media/image43.svg"/><Relationship Id="rId4" Type="http://schemas.openxmlformats.org/officeDocument/2006/relationships/image" Target="../media/image48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5.svg"/><Relationship Id="rId4" Type="http://schemas.openxmlformats.org/officeDocument/2006/relationships/image" Target="../media/image5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7.svg"/><Relationship Id="rId5" Type="http://schemas.openxmlformats.org/officeDocument/2006/relationships/image" Target="../media/image56.svg"/><Relationship Id="rId4" Type="http://schemas.openxmlformats.org/officeDocument/2006/relationships/image" Target="../media/image5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778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面向</a:t>
            </a: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AI </a:t>
            </a: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大模型时代的</a:t>
            </a: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TsFile</a:t>
            </a:r>
            <a:r>
              <a:rPr lang="en-US" sz="3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3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文件格式优化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016000" y="317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GORILLA Resync Marker · </a:t>
            </a:r>
            <a:r>
              <a:rPr lang="en-US" sz="22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降采样感知</a:t>
            </a:r>
            <a:r>
              <a:rPr lang="en-US" sz="2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Reader · </a:t>
            </a:r>
            <a:r>
              <a:rPr lang="en-US" sz="2200" b="0" i="0" u="none" strike="noStrike" dirty="0" err="1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多分辨率</a:t>
            </a:r>
            <a:r>
              <a:rPr lang="en-US" sz="22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 Compaction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4572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5207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6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董豪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汇报提纲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36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研究背景与动机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AI时代时序数据访问模式的变化与核心矛盾，阐述研究的必要性与出发点。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445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99000" y="18415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36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TsFile 架构分析与三层瓶颈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深入剖析TsFile在读取过程中的I/O、解压和解码三大核心瓶颈，明确优化方向。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128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82000" y="18415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36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基准测试：四格式 × 四模式对比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建立公平的对比基准，量化各格式在不同查询模式下的性能差异并修正计量偏差。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3815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36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方案一：GORILLA 跳读 (Codec层)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在编码层引入Resync Marker实现分段解码，有效解决降采样查询时的解码浪费问题。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445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445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699000" y="43815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36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方案二：多分辨率 Compaction (Storage层)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在存储层预生成不同粒度的降采样文件，从根本上减少数据扫描量，解决I/O放大。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128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28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382000" y="43815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36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总结本次研究的主要贡献，并探讨成果在系统中的集成路径与未来的优化方向。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大模型时代时序数据访问模式的变化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048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635000"/>
          </a:xfrm>
          <a:prstGeom prst="roundRect">
            <a:avLst>
              <a:gd name="adj" fmla="val 1600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7" name="AutoShape 7"/>
          <p:cNvSpPr/>
          <p:nvPr/>
        </p:nvSpPr>
        <p:spPr>
          <a:xfrm>
            <a:off x="1460500" y="1752600"/>
            <a:ext cx="431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</a:t>
            </a: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IoT 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查询场景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952500" y="2476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🕒 时间范围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近几分钟 (Short-term)</a:t>
            </a:r>
          </a:p>
        </p:txBody>
      </p:sp>
      <p:sp>
        <p:nvSpPr>
          <p:cNvPr id="9" name="AutoShape 9"/>
          <p:cNvSpPr/>
          <p:nvPr/>
        </p:nvSpPr>
        <p:spPr>
          <a:xfrm>
            <a:off x="3429000" y="2476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📊 列选择性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全列扫描 (100%)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52500" y="355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🔍 采样精度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全分辨率读取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429000" y="355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▶️ 访问模式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顺序连续扫描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3048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635000"/>
          </a:xfrm>
          <a:prstGeom prst="roundRect">
            <a:avLst>
              <a:gd name="adj" fmla="val 16000"/>
            </a:avLst>
          </a:prstGeom>
          <a:solidFill>
            <a:srgbClr val="EA580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921500" y="1752600"/>
            <a:ext cx="431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训练 DataLoader 场景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2476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🕓 </a:t>
            </a: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时间范围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跨月</a:t>
            </a: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跨年</a:t>
            </a: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(Long-term)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890000" y="2476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📋 列选择性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稀疏列 (仅 20% / 3列)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413500" y="355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📉 采样率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极低采样 (1点/500点)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890000" y="355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🔀 访问模式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随机窗口 (500个 512点窗口)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62000" y="5080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1E3A8A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2032000" y="5270500"/>
            <a:ext cx="914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核心矛盾：数据读取单元与实际需求的不匹配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TsFile 以“Page”为最小原子解码单元，而 AI 训练仅需 Page 内极小部分数据，导致大量无关数据被强制加载与解码，造成严重的 I/O 带宽和计算资源浪费。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数据集生成与多格式组织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数据规模构建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3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data_gen.py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脚本合成工业IoT数据集，覆盖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30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台设备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× 15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个测点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× 10 天 × 2秒采样间隔 =</a:t>
            </a:r>
            <a:r>
              <a:rPr lang="en-US" sz="1300" b="1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432,000点/</a:t>
            </a:r>
            <a:r>
              <a:rPr lang="en-US" sz="13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测点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(总数据量约1940万点)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651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复杂特征模拟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为还原真实工业环境，数据中混合了多种信号成分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正弦主振荡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随机子谐波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线性漂移趋势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白噪声干扰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+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突发异常尖峰，确保数据多样性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2540000" cy="2921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t="20833" b="20833"/>
          <a:stretch>
            <a:fillRect/>
          </a:stretch>
        </p:blipFill>
        <p:spPr>
          <a:xfrm>
            <a:off x="1016000" y="3683000"/>
            <a:ext cx="2032000" cy="889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889000" y="4699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Apache Parquet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组织：单设备1个 .parquet文件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压缩：Snappy 算法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单设备大小：</a:t>
            </a: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~4 MB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467100" y="3429000"/>
            <a:ext cx="2540000" cy="2921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t="31029" b="31029"/>
          <a:stretch>
            <a:fillRect/>
          </a:stretch>
        </p:blipFill>
        <p:spPr>
          <a:xfrm>
            <a:off x="3721100" y="3683000"/>
            <a:ext cx="2032000" cy="889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3594100" y="4699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Arrow IPC (Feather)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组织：单设备1个 .arrow文件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压缩：Feather 列式存储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单设备大小：</a:t>
            </a:r>
            <a:r>
              <a:rPr lang="en-US" sz="1200" b="1" i="0" u="none" strike="noStrike">
                <a:solidFill>
                  <a:srgbClr val="D92D20"/>
                </a:solidFill>
                <a:latin typeface="Noto Sans SC"/>
                <a:ea typeface="Noto Sans SC"/>
                <a:cs typeface="Noto Sans SC"/>
                <a:sym typeface="Noto Sans SC"/>
              </a:rPr>
              <a:t>~108 MB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172200" y="3429000"/>
            <a:ext cx="2540000" cy="2921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l="11436" r="11436"/>
          <a:stretch>
            <a:fillRect/>
          </a:stretch>
        </p:blipFill>
        <p:spPr>
          <a:xfrm>
            <a:off x="6426200" y="3683000"/>
            <a:ext cx="2032000" cy="889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299200" y="4699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HDF5 (Hierarchical)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组织：全量数据1个 .h5文件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压缩：GZIP (Chunk=100K)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单设备大小：</a:t>
            </a:r>
            <a:r>
              <a:rPr lang="en-US" sz="12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~8 MB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877300" y="3429000"/>
            <a:ext cx="2540000" cy="2921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 t="20859" b="20859"/>
          <a:stretch>
            <a:fillRect/>
          </a:stretch>
        </p:blipFill>
        <p:spPr>
          <a:xfrm>
            <a:off x="9131300" y="3683000"/>
            <a:ext cx="2032000" cy="889000"/>
          </a:xfrm>
          <a:prstGeom prst="roundRect">
            <a:avLst>
              <a:gd name="adj" fmla="val 11428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9004300" y="4699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TsFile (IoTDB)</a:t>
            </a:r>
            <a:endParaRPr lang="en-US" sz="1100"/>
          </a:p>
          <a:p>
            <a:pPr indent="0" algn="ctr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组织：单设备1个 .tsfile文件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压缩：GORILLA + Snappy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单设备大小：</a:t>
            </a:r>
            <a:r>
              <a:rPr lang="en-US" sz="1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~40 MB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Benchmark </a:t>
            </a:r>
            <a:r>
              <a:rPr lang="en-US" sz="32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四种查询模式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68500"/>
            <a:ext cx="711200" cy="711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714500"/>
            <a:ext cx="3683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P1 · 顺序扫描 (Sequential Scan)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全时域、全量数据的连续读取。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评估系统在理想连续访问下的 I/O 吞吐量上限。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68500"/>
            <a:ext cx="711200" cy="711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493000" y="1714500"/>
            <a:ext cx="3683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P2 · 列子集 (Column Subset)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分别选取全量列的 7% / 20% / 50% / 100% 进行查询。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验证列裁剪 (Projection Pushdown) 机制的执行效率。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3810000"/>
            <a:ext cx="5207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254500"/>
            <a:ext cx="711200" cy="711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032000" y="4000500"/>
            <a:ext cx="3683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P3 · 降采样 (Downsampling)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模拟数据聚合，按不同步长 (1/10/100/500) 进行稀疏采样。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sz="13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★ 核心测试：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量化因读取并解码整页导致的无效计算开销。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3810000"/>
            <a:ext cx="5207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254500"/>
            <a:ext cx="711200" cy="711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93000" y="4000500"/>
            <a:ext cx="3683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P4 · 随机窗口 (Random Window)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模拟 AI DataLoader，随机选取 500 个长度为 512 的时间窗口。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sz="13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★ 核心测试：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还原真实 AI 训练中的随机、小批量数据访问模式。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6032500"/>
            <a:ext cx="10668000" cy="635000"/>
          </a:xfrm>
          <a:prstGeom prst="roundRect">
            <a:avLst>
              <a:gd name="adj" fmla="val 16000"/>
            </a:avLst>
          </a:prstGeom>
          <a:solidFill>
            <a:srgbClr val="1F293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61849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6096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测试方法论：</a:t>
            </a: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每种查询模式均独立运行 5 次，取平均值以消除偶然性；所有测试均在不同设备与测点间随机化进行，确保结果具备统计学意义。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跨格式对比的公平性保证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29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714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651000"/>
            <a:ext cx="254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单线程强制执行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统一关闭所有库的多线程优化（如OMP, MKL, OPENBLAS），确保CPU资源竞争的公平性，消除并发干扰。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381500" y="1524000"/>
            <a:ext cx="3429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714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080000" y="1651000"/>
            <a:ext cx="254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统一度量框架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开发专用的`QueryMeasurer`框架，标准化采集“墙钟时间、CPU时间、读取字节数及内存占用”四类核心指标。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001000" y="1524000"/>
            <a:ext cx="3429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1714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699500" y="1651000"/>
            <a:ext cx="254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JIT预热消除偏差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针对基于Java实现的TsFile，执行3次完整的预热运行，消除即时编译器(JIT)在首次运行时产生的编译开销。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3683000"/>
            <a:ext cx="3429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873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3810000"/>
            <a:ext cx="254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文件组织对齐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强制所有测试格式均使用30个独立的物理文件进行数据存储，从底层消除不同格式因默认文件组织方式差异带来的性能干扰。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381500" y="3683000"/>
            <a:ext cx="3429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3873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080000" y="3810000"/>
            <a:ext cx="254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时间戳格式对齐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统一所有对比格式的时间戳存储标准为“Unix Epoch”，排除因时间序列化、解析算法不同而引入的额外计算开销差异。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001000" y="3683000"/>
            <a:ext cx="3429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3873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699500" y="3810000"/>
            <a:ext cx="254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统一I/O计量逻辑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通过预计算的`_cost()`标准化函数，统一各系统底层的`bytes_read`统计口径，防止因逻辑层“读取-解码”方式不同造成I/O放大偏差。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778500"/>
            <a:ext cx="10668000" cy="825500"/>
          </a:xfrm>
          <a:prstGeom prst="roundRect">
            <a:avLst>
              <a:gd name="adj" fmla="val 9230"/>
            </a:avLst>
          </a:prstGeom>
          <a:solidFill>
            <a:srgbClr val="F0F9FF">
              <a:alpha val="90000"/>
            </a:srgbClr>
          </a:solidFill>
          <a:ln w="12700" cap="flat" cmpd="sng">
            <a:solidFill>
              <a:srgbClr val="BAE6F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969000"/>
            <a:ext cx="279400" cy="279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397000" y="5880100"/>
            <a:ext cx="977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重要说明：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TsFile默认配置中“1 Page = 1 Chunk (约10,000个数据点)”的设定，本质是小于操作系统64KB页缓存阈值的常规优化，并非为了在本次对比中获取不公平优势而刻意修改的参数。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Benchmark </a:t>
            </a:r>
            <a:r>
              <a:rPr lang="en-US" sz="32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指标含义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0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wall_time_s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含义：墙钟时间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衡量查询的端到端延迟，是用户最直观的感受。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184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80000" y="180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cpu_user_s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413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含义：用户态 CPU 时间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反映查询实际消耗的计算资源，排除I/O等待时间。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8500" y="184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63000" y="180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bytes_read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2413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含义：压缩字节读取量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反映从磁盘实际读取的数据量，是I/O放大的直接体现。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3302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381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97000" y="434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bytes_useful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4953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含义：有用字节</a:t>
            </a:r>
            <a:r>
              <a:rPr lang="en-US" sz="14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(点数×16)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指查询实际需要并最终返回给用户的数据量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4445000" y="4191000"/>
            <a:ext cx="3302000" cy="2222500"/>
          </a:xfrm>
          <a:prstGeom prst="roundRect">
            <a:avLst>
              <a:gd name="adj" fmla="val 4571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078D4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5500" y="4381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080000" y="434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A0"/>
                </a:solidFill>
                <a:latin typeface="Noto Sans SC"/>
                <a:ea typeface="Noto Sans SC"/>
                <a:cs typeface="Noto Sans SC"/>
                <a:sym typeface="Noto Sans SC"/>
              </a:rPr>
              <a:t>read_amplification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35500" y="4953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含义：bytes_read</a:t>
            </a:r>
            <a:r>
              <a:rPr lang="en-US" sz="14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/ </a:t>
            </a:r>
            <a:r>
              <a:rPr lang="en-US" sz="14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bytes_useful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1" i="0" u="none" strike="noStrike" dirty="0">
                <a:solidFill>
                  <a:srgbClr val="D92D20"/>
                </a:solidFill>
                <a:latin typeface="Noto Sans SC"/>
                <a:ea typeface="Noto Sans SC"/>
                <a:cs typeface="Noto Sans SC"/>
                <a:sym typeface="Noto Sans SC"/>
              </a:rPr>
              <a:t>★ </a:t>
            </a:r>
            <a:r>
              <a:rPr lang="en-US" sz="1200" b="1" i="0" u="none" strike="noStrike" dirty="0" err="1">
                <a:solidFill>
                  <a:srgbClr val="D92D2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核心指标：</a:t>
            </a:r>
            <a:r>
              <a:rPr lang="en-US" sz="12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衡量I</a:t>
            </a: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2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O放大的倍数，值越小代表读取效率越高</a:t>
            </a:r>
            <a:r>
              <a:rPr lang="en-US" sz="12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8128000" y="4191000"/>
            <a:ext cx="3302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4381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763000" y="4343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mem_delta_kb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318500" y="4953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含义：RSS (常驻内存集) 变化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反映查询过程中，系统内存占用的峰值，体现内存压力。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P1 顺序扫描（全时域 10 天, 每测点 432K 点, 5 次取平均）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524000"/>
          <a:ext cx="9398000" cy="2336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格式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Wall(s)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Read(MB)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ReadAmp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Thru(MB/s)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Mem(KB)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TsFile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0.041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0.062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2.61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1,292,816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Parquet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0.165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0.144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4.11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51.6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14,876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Arrow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0.256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109.55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15.8×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19.1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70,664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HDF5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0.015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1.2×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503.4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1,006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432,000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4826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● 说明：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查询全部时间范围的全部数据，测试各格式的 I/O 吞吐上限和读放大基线。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● 发现：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TsFile Read Amp 0.4×（GORILLA 压缩率极高，读的压缩数据比有用数据还小）；Arrow Read Amp 15.8×（IPC 全文件读取，无列裁剪）；TsFile Mem 1.29GB 为 JVM 进程开销，非数据本身。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P2 列子集（15 测点中选 N 列, 全时域, 5 次取平均）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测试列裁剪效率：只查询部分测点时，各格式是否“只读需要的列”？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390382"/>
              </p:ext>
            </p:extLst>
          </p:nvPr>
        </p:nvGraphicFramePr>
        <p:xfrm>
          <a:off x="761998" y="1785619"/>
          <a:ext cx="9070260" cy="268805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55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2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2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55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807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格式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Wall(s)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CPU(s)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Read(MB)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ReadAmp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49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TsFile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0.040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0.047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2.55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49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Parquet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0.181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0.175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4.11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49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Arrow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0.409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0.338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109.1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15.8×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49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HDF5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0.016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1.2×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432,000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4826000"/>
            <a:ext cx="1066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TsFile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Wall time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随选择列数线性增长（Chunk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级列裁剪有效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Parquet Wall time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恶化显著（每列独立打开文件、解析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footer）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 dirty="0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●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Arrow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恒定全文件读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109MB+，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选择列数不影响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I/O 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P2 列子集（续）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3302000"/>
          </a:xfrm>
          <a:prstGeom prst="roundRect">
            <a:avLst>
              <a:gd name="adj" fmla="val 307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3302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1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选择率 50%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(7-8 列 / 15 列)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952500" y="2286000"/>
          <a:ext cx="4826000" cy="20523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格式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Wall(s)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Read(MB)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ReadAmp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TsFile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0.234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0.250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18.35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3,024,000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Parquet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1.180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1.075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28.72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3,024,000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Arrow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0.463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0.409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763.9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15.8×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3,024,000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HDF5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78D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0.061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78D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0.050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56.0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1.2×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3,024,000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6223000" y="1524000"/>
            <a:ext cx="5207000" cy="3302000"/>
          </a:xfrm>
          <a:prstGeom prst="roundRect">
            <a:avLst>
              <a:gd name="adj" fmla="val 307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76200" cy="3302000"/>
          </a:xfrm>
          <a:prstGeom prst="roundRect">
            <a:avLst>
              <a:gd name="adj" fmla="val 0"/>
            </a:avLst>
          </a:prstGeom>
          <a:solidFill>
            <a:srgbClr val="E84D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1714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选择率 100%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(全部 15 列)</a:t>
            </a:r>
            <a:endParaRPr lang="en-US" sz="1100"/>
          </a:p>
        </p:txBody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6413500" y="2286000"/>
          <a:ext cx="4826000" cy="20523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2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格式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Wall(s)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Read(MB)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ReadAmp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TsFile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0.457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0.466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39.41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6,480,000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Parquet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2.725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2.491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61.48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6,480,000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Arrow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0.361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0.331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1637.0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15.8×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6,480,000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HDF5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78D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0.124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78D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0.106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120.0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1.2×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6,480,000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AutoShape 12"/>
          <p:cNvSpPr/>
          <p:nvPr/>
        </p:nvSpPr>
        <p:spPr>
          <a:xfrm>
            <a:off x="762000" y="5080000"/>
            <a:ext cx="3556000" cy="1397000"/>
          </a:xfrm>
          <a:prstGeom prst="roundRect">
            <a:avLst>
              <a:gd name="adj" fmla="val 10909"/>
            </a:avLst>
          </a:prstGeom>
          <a:solidFill>
            <a:srgbClr val="EFF6FF">
              <a:alpha val="95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397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87500" y="52705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TsFile 极致的列裁剪能力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四种选择率下，TsFile 的 Read Amp 始终维持在 0.4×，表明其在 Chunk 级别实现了极其精确的列裁剪。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318000" y="5080000"/>
            <a:ext cx="3556000" cy="1397000"/>
          </a:xfrm>
          <a:prstGeom prst="roundRect">
            <a:avLst>
              <a:gd name="adj" fmla="val 10909"/>
            </a:avLst>
          </a:prstGeom>
          <a:solidFill>
            <a:srgbClr val="FFF7ED">
              <a:alpha val="95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5397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143500" y="52705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Parquet 性能瓶颈显现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 100% 列选择场景下，Parquet 耗时高达 2.73s。这主要源于底层 15 次独立的 pq.read_table() 调用带来的额外开销。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874000" y="5080000"/>
            <a:ext cx="3556000" cy="1397000"/>
          </a:xfrm>
          <a:prstGeom prst="roundRect">
            <a:avLst>
              <a:gd name="adj" fmla="val 10909"/>
            </a:avLst>
          </a:prstGeom>
          <a:solidFill>
            <a:srgbClr val="F0FDF4">
              <a:alpha val="95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500" y="5397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699500" y="52705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Arrow 读取策略的特殊性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Arrow 在全列读取时反而比单列更快。这是因为其内存中一次过滤的成本，远低于多次扫描磁盘带来的开销。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P3 降采样（全时域查询, 取每 N 个点, 5 次取平均）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558800"/>
          </a:xfrm>
          <a:prstGeom prst="roundRect">
            <a:avLst>
              <a:gd name="adj" fmla="val 18181"/>
            </a:avLst>
          </a:prstGeom>
          <a:solidFill>
            <a:srgbClr val="E84D00">
              <a:alpha val="8000"/>
            </a:srgbClr>
          </a:solidFill>
          <a:ln w="12700" cap="flat" cmpd="sng">
            <a:solidFill>
              <a:srgbClr val="E84D00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716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346200"/>
            <a:ext cx="990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★ 核心测试 —— 测解码浪费放大比：全量解码后只取 1/N，N 越大意味着无效数据处理越多，浪费越严重。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095500"/>
            <a:ext cx="5270500" cy="2857500"/>
          </a:xfrm>
          <a:prstGeom prst="roundRect">
            <a:avLst>
              <a:gd name="adj" fmla="val 355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095500"/>
            <a:ext cx="5270500" cy="457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89000" y="2146300"/>
            <a:ext cx="501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= 1 (全量查询 / 无降采样)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889000" y="2730500"/>
          <a:ext cx="5016500" cy="20523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格式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Wall(s)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Read(MB)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ReadAmp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TsFile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0.029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0.031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2.63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Parquet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0.213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0.197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4.11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Arrow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0.321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0.284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109.5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15.8×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HDF5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78D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0.013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78D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1.2×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AutoShape 11"/>
          <p:cNvSpPr/>
          <p:nvPr/>
        </p:nvSpPr>
        <p:spPr>
          <a:xfrm>
            <a:off x="6159500" y="2095500"/>
            <a:ext cx="5270500" cy="2857500"/>
          </a:xfrm>
          <a:prstGeom prst="roundRect">
            <a:avLst>
              <a:gd name="adj" fmla="val 355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159500" y="2095500"/>
            <a:ext cx="5270500" cy="457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286500" y="2146300"/>
            <a:ext cx="5016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= 10 (每 10 个点中只取 1 个)</a:t>
            </a:r>
            <a:endParaRPr lang="en-US" sz="1100"/>
          </a:p>
        </p:txBody>
      </p:sp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6286500" y="2730500"/>
          <a:ext cx="5016500" cy="20523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格式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Wall(s)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Read(MB)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ReadAmp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4B556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TsFile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0.030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0.041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2.63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3.8×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43.2k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Parquet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0.209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0.203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4.11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5.9×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43.2k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Arrow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0.291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109.5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158.4×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43.2k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HDF5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78D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0078D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11.6×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43.2k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AutoShape 15"/>
          <p:cNvSpPr/>
          <p:nvPr/>
        </p:nvSpPr>
        <p:spPr>
          <a:xfrm>
            <a:off x="762000" y="5207000"/>
            <a:ext cx="3429000" cy="1397000"/>
          </a:xfrm>
          <a:prstGeom prst="roundRect">
            <a:avLst>
              <a:gd name="adj" fmla="val 7272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5397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33500" y="53594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ReadAmp 随 Step 指数级放大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因为底层文件I/O需读全量数据，而有效有用数据随 N 增大而线性减少，导致放大比激增。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381500" y="5207000"/>
            <a:ext cx="3429000" cy="1397000"/>
          </a:xfrm>
          <a:prstGeom prst="roundRect">
            <a:avLst>
              <a:gd name="adj" fmla="val 7272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8500" y="5397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953000" y="53594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TsFile 性能表现极其稳定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Wall time 始终保持在 0.03s 左右，说明其 GORILLA 压缩算法在解码阶段的开销极低，几乎不受数据放大影响。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001000" y="5207000"/>
            <a:ext cx="3429000" cy="1397000"/>
          </a:xfrm>
          <a:prstGeom prst="roundRect">
            <a:avLst>
              <a:gd name="adj" fmla="val 7272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5397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572500" y="5359400"/>
            <a:ext cx="266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Arrow 存在严重的性能浪费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放大比高达 158.4倍，为了读取仅 691KB 的有用数据，被迫读取了 109MB 的全量数据，效率极低。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P3 降采样（续）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1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▍ Step = 100 (每 100 个取 1 个)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952500" y="2286000"/>
          <a:ext cx="4953000" cy="20523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格式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Wall(s)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Read(MB)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ReadAmp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TsFile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0.029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0.028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2.63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38.0×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4,320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Parquet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0.206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0.203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4.11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58.8×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4,320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Arrow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0.315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0.256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109.5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1584×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4,320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HDF5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115.7×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4,320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6223000" y="1524000"/>
            <a:ext cx="5207000" cy="2921000"/>
          </a:xfrm>
          <a:prstGeom prst="roundRect">
            <a:avLst>
              <a:gd name="adj" fmla="val 5217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71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▍ Step = 500 (每 500 个取 1 个)</a:t>
            </a:r>
            <a:endParaRPr lang="en-US" sz="110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6413500" y="2286000"/>
          <a:ext cx="4953000" cy="20523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格式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Wall(s)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Read(MB)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ReadAmp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Points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TsFile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0.029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0.038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2.63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190.1×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Parquet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0.197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4.11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294.0×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Arrow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0.326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0.275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109.5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7921×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HDF5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578.7×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AutoShape 10"/>
          <p:cNvSpPr/>
          <p:nvPr/>
        </p:nvSpPr>
        <p:spPr>
          <a:xfrm>
            <a:off x="762000" y="4826000"/>
            <a:ext cx="3556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016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978400"/>
            <a:ext cx="2730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数据读取的巨大浪费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Step=500时，TsFile 的 ReadAmp 高达190倍，而 Arrow 更是达到了惊人的7921倍，这意味着全量解压后有99.8%的数据被丢弃。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318000" y="4826000"/>
            <a:ext cx="3556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5016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953000" y="4978400"/>
            <a:ext cx="2730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耗时不随采样率变化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四种格式的 Wall time 几乎不随 Step 变化，说明性能瓶颈并不在过滤环节，而是在于 I/O 阶段必须读全量数据。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874000" y="4826000"/>
            <a:ext cx="3556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500" y="5016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509000" y="4978400"/>
            <a:ext cx="2730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优化目标明确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减少“读全量、取少量”的巨大资源浪费，解决降采样场景下的性能瓶颈，正是本文提出的方案一和方案二的核心优化目标。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P4 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随机窗口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— AI 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DataLoader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仿真</a:t>
            </a:r>
            <a:r>
              <a:rPr 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(500 </a:t>
            </a:r>
            <a:r>
              <a:rPr lang="en-US" sz="2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窗口</a:t>
            </a:r>
            <a:r>
              <a:rPr 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× 512 点, 3 </a:t>
            </a:r>
            <a:r>
              <a:rPr lang="en-US" sz="2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测点</a:t>
            </a:r>
            <a:r>
              <a:rPr 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, 5 </a:t>
            </a:r>
            <a:r>
              <a:rPr lang="en-US" sz="20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设备</a:t>
            </a:r>
            <a:r>
              <a:rPr lang="en-US" sz="20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模拟 AI 训练 DataLoader 的真实访问模式 —— 大量随机时间窗口 + 部分列查询，旨在评估不同格式在高频随机访问下的性能表现。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10668000" cy="2413000"/>
          </a:xfrm>
          <a:prstGeom prst="roundRect">
            <a:avLst>
              <a:gd name="adj" fmla="val 421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89000" y="2032000"/>
          <a:ext cx="10160000" cy="23266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格式 (Format)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耗时(s)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CPU(s)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读数据(MB)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读放大 (ReadAmp)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内存占用(KB)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返回点数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TsFile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0.465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0.869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4.76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0.4× (</a:t>
                      </a:r>
                      <a:r>
                        <a:rPr lang="en-US" sz="1200" b="1" i="0" u="none" strike="noStrike" dirty="0" err="1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最优</a:t>
                      </a:r>
                      <a:r>
                        <a:rPr lang="en-US" sz="1200" b="1" i="0" u="none" strike="noStrike" dirty="0">
                          <a:solidFill>
                            <a:srgbClr val="E84D0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)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1,292,816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768,732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HDF5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0.659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0.619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14.22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1.2×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6A3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1,112 (最小)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768,675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Arrow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1.524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1.291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194.44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15.8× (最差)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-529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768,675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Parquet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746.413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303.191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7.28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192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768,675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4572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762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4724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巨大性能差距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5207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TsFile (0.47s) vs Parquet (746s)，在随机窗口场景下，性能差异高达</a:t>
            </a:r>
            <a:r>
              <a:rPr lang="en-US" sz="1200" b="1" i="0" u="none" strike="noStrike">
                <a:solidFill>
                  <a:srgbClr val="E84D00"/>
                </a:solidFill>
                <a:latin typeface="Noto Sans SC"/>
                <a:ea typeface="Noto Sans SC"/>
                <a:cs typeface="Noto Sans SC"/>
                <a:sym typeface="Noto Sans SC"/>
              </a:rPr>
              <a:t>1600 倍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67100" y="4572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4762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102100" y="4724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TsFile 为何快？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57600" y="5207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ChunkMetadata 存储的 min/max 时间统计值，在数据读取前实现了 Chunk 级时间过滤，直接跳过无关数据块，减少IO。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72200" y="4572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2700" y="4762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07200" y="4724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Parquet 为何慢？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62700" y="5207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每个窗口都独立调用一次文件读取接口，累计产生约 1500 次文件打开操作，导致严重的 IO 开销和系统调用开销。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0" y="4572000"/>
            <a:ext cx="2540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80500" y="4762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525000" y="4724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Arrow 的局限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80500" y="5207000"/>
            <a:ext cx="215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在随机窗口场景下缺乏谓词下推（Predicate Pushdown）能力，需要将全量数据读取到内存后才能进行过滤，读放大极高。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1">
              <a:alpha val="50000"/>
            </a:scheme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基准测试</a:t>
            </a:r>
            <a:r>
              <a:rPr lang="en-US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—— </a:t>
            </a:r>
            <a:r>
              <a:rPr lang="en-US" sz="32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关键结论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16000" cy="2286000"/>
          </a:xfrm>
          <a:prstGeom prst="roundRect">
            <a:avLst>
              <a:gd name="adj" fmla="val 1500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P4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1905000"/>
            <a:ext cx="368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随机窗口：TsFile 碾压级优势</a:t>
            </a:r>
            <a:r>
              <a:rPr lang="en-US" sz="1800" b="1" i="0" u="none" strike="noStrike">
                <a:solidFill>
                  <a:srgbClr val="E84D00"/>
                </a:solidFill>
                <a:latin typeface="Noto Sans SC"/>
                <a:ea typeface="Noto Sans SC"/>
                <a:cs typeface="Noto Sans SC"/>
                <a:sym typeface="Noto Sans SC"/>
              </a:rPr>
              <a:t>(0.47s vs 746s)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Chunk 级时间统计值过滤 + 列裁剪 + GORILLA 高压缩比，证明 TsFile 的格式架构在 AI 训练场景具备结构性优势，大幅降低IO开销。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65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1016000" cy="2286000"/>
          </a:xfrm>
          <a:prstGeom prst="roundRect">
            <a:avLst>
              <a:gd name="adj" fmla="val 15000"/>
            </a:avLst>
          </a:prstGeom>
          <a:solidFill>
            <a:srgbClr val="E84D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22860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493000" y="1905000"/>
            <a:ext cx="368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降采样是核心短板</a:t>
            </a:r>
            <a:r>
              <a:rPr lang="en-US" sz="1800" b="1" i="0" u="none" strike="noStrike">
                <a:solidFill>
                  <a:srgbClr val="E84D00"/>
                </a:solidFill>
                <a:latin typeface="Noto Sans SC"/>
                <a:ea typeface="Noto Sans SC"/>
                <a:cs typeface="Noto Sans SC"/>
                <a:sym typeface="Noto Sans SC"/>
              </a:rPr>
              <a:t>(Read Amp 190×)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全量读取、解压、解码后丢弃99%+数据是行业共性痛点。TsFile表现虽优于Arrow(7921×)，但仍存在巨大的优化空间，是下一阶段的重点。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1016000" cy="2286000"/>
          </a:xfrm>
          <a:prstGeom prst="roundRect">
            <a:avLst>
              <a:gd name="adj" fmla="val 1500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48260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032000" y="4445000"/>
            <a:ext cx="368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列子集：TsFile 精确列裁剪</a:t>
            </a:r>
            <a:r>
              <a:rPr lang="en-US" sz="1800" b="1" i="0" u="none" strike="noStrike">
                <a:solidFill>
                  <a:srgbClr val="E84D00"/>
                </a:solidFill>
                <a:latin typeface="Noto Sans SC"/>
                <a:ea typeface="Noto Sans SC"/>
                <a:cs typeface="Noto Sans SC"/>
                <a:sym typeface="Noto Sans SC"/>
              </a:rPr>
              <a:t>(Read Amp 恒定 0.4×)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无论查询列数占比从7%增加至100%，Read Amp始终保持稳定低水平，有力证明了Chunk级列裁剪在Aligned Chunk Group架构下的高效性。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4191000"/>
            <a:ext cx="1016000" cy="2286000"/>
          </a:xfrm>
          <a:prstGeom prst="roundRect">
            <a:avLst>
              <a:gd name="adj" fmla="val 15000"/>
            </a:avLst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223000" y="4826000"/>
            <a:ext cx="101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P1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93000" y="4445000"/>
            <a:ext cx="368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顺序扫描：所有格式表现正常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在纯顺序全量扫描场景下，TsFile与同类竞品性能表现接近，均能发挥底层存储IO的极限吞吐，可作为系统的性能基准线。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3F4F6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TsFile Page 读取的三层开销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80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/ I/O 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794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从磁盘读取整个经过 SNAPPY 算法压缩的 Page 数据块到内存中。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瓶颈：</a:t>
            </a:r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必须全量读，不能部分读。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80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/ SNAPPY 解压层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794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调用 SNAPPY 库，将从 I/O 层获取的整个压缩块解压为原始字节流。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瓶颈：</a:t>
            </a:r>
          </a:p>
          <a:p>
            <a:pPr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不支持对压缩块进行部分解压或流式解压。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128000" y="1803400"/>
            <a:ext cx="330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/ GORILLA 解码层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2794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操作：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对解压后的原始数据进行 Gorilla 算法解码，还原为时间序列数值。</a:t>
            </a:r>
            <a:endParaRPr lang="en-US" sz="1100"/>
          </a:p>
          <a:p>
            <a:pPr indent="0" algn="l">
              <a:lnSpc>
                <a:spcPct val="100000"/>
              </a:lnSpc>
              <a:spcBef>
                <a:spcPts val="800"/>
              </a:spcBef>
            </a:pPr>
            <a:r>
              <a:rPr lang="en-US" sz="14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瓶颈与后果：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XOR差分依赖导致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必须从头顺序解码，无法跳读。</a:t>
            </a:r>
            <a:r>
              <a:rPr lang="en-US" sz="13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在降采样（如 step=500）时，约</a:t>
            </a:r>
            <a:r>
              <a:rPr lang="en-US" sz="13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99.5% 的解码结果最终被丢弃。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5461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5461000"/>
            <a:ext cx="101600" cy="1143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143000" y="5461000"/>
            <a:ext cx="1003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</a:t>
            </a:r>
            <a:r>
              <a:rPr 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这三个瓶颈</a:t>
            </a:r>
            <a:r>
              <a:rPr lang="en-US" sz="15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存在于</a:t>
            </a:r>
            <a:r>
              <a:rPr lang="en-US" sz="15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TsFile</a:t>
            </a:r>
            <a:r>
              <a:rPr lang="en-US" sz="15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内部（JAR</a:t>
            </a:r>
            <a:r>
              <a:rPr lang="en-US" sz="15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5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包逻辑中）的</a:t>
            </a:r>
            <a:r>
              <a:rPr lang="en-US" sz="1500" b="1" i="0" u="none" strike="noStrike" dirty="0" err="1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文件格式本身的设计问题</a:t>
            </a:r>
            <a:r>
              <a:rPr lang="en-US" sz="15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，直接限制了查询性能的上限</a:t>
            </a:r>
            <a:r>
              <a:rPr lang="en-US" sz="15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方案一 — GORILLA 编码流内插重同步点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445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30400"/>
            <a:ext cx="228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解码的顺序依赖限制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GORILLA 编码的 XOR 差分算法特性，决定了其解码过程必须严格“从头开始，顺序进行”。解码器无法直接随机跳转到数据流中间的任意位置。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这导致在进行降采样或随机查询时，必须对整个 Page 进行完整解码，造成了极大的计算资源浪费和性能瓶颈。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4445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68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930400"/>
            <a:ext cx="228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794000"/>
            <a:ext cx="2794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插入“重同步点”(Resync Marker)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在连续的 GORILLA 编码流中，每隔固定数量的数据点（例如每 64 个值），插入一个未经过压缩的、完整的原始数据快照，作为“重同步点”。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解码器利用这些 Marker 构建索引目录，查询时通过二分查找快速定位到目标位置附近的 Marker，仅从该 Marker 处开始解码，实现高效跳读。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4445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68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90000" y="1930400"/>
            <a:ext cx="228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编码格式示意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794000"/>
            <a:ext cx="2794000" cy="1270000"/>
          </a:xfrm>
          <a:prstGeom prst="roundRect">
            <a:avLst>
              <a:gd name="adj" fmla="val 6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509000" y="2921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原 Page 结构：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[val₀] → GORILLA 连续流 (10,000 个值)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(只能从头解码，无法随机访问)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382000" y="4318000"/>
            <a:ext cx="2794000" cy="1397000"/>
          </a:xfrm>
          <a:prstGeom prst="roundRect">
            <a:avLst>
              <a:gd name="adj" fmla="val 5454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509000" y="4445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改进后 Page 结构：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[val₀] ···</a:t>
            </a:r>
            <a:r>
              <a:rPr lang="en-US" sz="12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[val₆₄ (Raw)]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···</a:t>
            </a:r>
            <a:r>
              <a:rPr lang="en-US" sz="12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[val₁₂₈ (Raw)]</a:t>
            </a:r>
            <a:r>
              <a:rPr lang="en-US" sz="12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···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(每 64 个值插入一个原始跳点)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方案一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思想借鉴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我们的方案并非凭空产生，而是站在了巨人的肩膀上，积极借鉴多个前沿研究的核心思想，并结合自身技术场景，在不同的技术维度进行了创新应用与改造。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302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27432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6924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Lance VLDB 2025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MiniBlock 布局思想</a:t>
            </a:r>
          </a:p>
        </p:txBody>
      </p:sp>
      <p:sp>
        <p:nvSpPr>
          <p:cNvPr id="9" name="AutoShape 9"/>
          <p:cNvSpPr/>
          <p:nvPr/>
        </p:nvSpPr>
        <p:spPr>
          <a:xfrm>
            <a:off x="965200" y="3683000"/>
            <a:ext cx="28956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💡 原问题：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列存的Page粒度太粗，导致小范围查询时I/O严重放大。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🔍 借鉴点：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引入“分段独立解码”思想，从Lance的结构编码层迁移至GORILLA值编码层。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⚖️ 区别：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解决不同层级的问题，Lance聚焦结构，我们聚焦值的压缩。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45000" y="2413000"/>
            <a:ext cx="3302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2413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7432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80000" y="26924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Parquet V3 提案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ColumnIndex 页级索引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648200" y="3683000"/>
            <a:ext cx="28956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💡 原问题：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宽表的Footer元数据解析开销大，无法快速定位具体的ColumnChunk。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🔍 借鉴点：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将“索引 → 跳读”的策略下沉，从传统的Page间跳读变为Page内部Segment间的跳读。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⚖️ 区别：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Parquet跳过整个Page，我们实现更细粒度的Page内内容跳过。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28000" y="2413000"/>
            <a:ext cx="3302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28000" y="2413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1200" y="27432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26924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Nimble (Meta)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Block Encoding 架构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331200" y="3683000"/>
            <a:ext cx="28956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💡 原问题：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Parquet流式编码方式导致内存占用不可预测，且难以进行SIMD指令并行计算。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🔍 借鉴点：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引入固定间隔的Marker标记，确保解码单元的独立性，使内存使用更可控。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⚖️ 区别：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Nimble在物理布局层划分Block，而我们在逻辑编码层划分Segment。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方案一 — 实现细节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59239" y="14986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1879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核心类：GorillaResyncCodec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952500" y="2540000"/>
            <a:ext cx="2921000" cy="342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encode(double[], interval)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按指定 interval 分块，为每个数据块生成 Marker 并构建索引目录。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decodeAll(byte[])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行为与标准 GORILLA 解码器完全一致，保证向后兼容性。</a:t>
            </a:r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decodeSampled(..., targetIndices)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跳读核心：利用二分查找快速定位 Marker，仅解码目标索引对应的值。</a:t>
            </a:r>
          </a:p>
          <a:p>
            <a:pPr indent="0" algn="l">
              <a:lnSpc>
                <a:spcPct val="116666"/>
              </a:lnSpc>
              <a:spcBef>
                <a:spcPts val="1000"/>
              </a:spcBef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countDecodedValues()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辅助统计方法，量化解码过程的性能优化效果。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4986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181600" y="18796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关键架构设计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35500" y="2667000"/>
            <a:ext cx="2921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500"/>
              </a:spcBef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非侵入式设计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无需修改 TsFile 核心代码，通过“装饰器模式”包装原有 Codec 实现功能扩展，易于维护和升级。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3000"/>
              </a:spcBef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🔄 独立 Segment 机制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每个 Segment 开始时重新初始化标准 GORILLA 编码器/解码器，确保 Segment 间逻辑完全隔离，互不干扰。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498600"/>
            <a:ext cx="3302000" cy="4572000"/>
          </a:xfrm>
          <a:prstGeom prst="roundRect">
            <a:avLst>
              <a:gd name="adj" fmla="val 307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05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864600" y="1879600"/>
            <a:ext cx="241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结果正确性验证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2794000"/>
            <a:ext cx="2921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spcBef>
                <a:spcPts val="1500"/>
              </a:spcBef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全量解码一致性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decodeAll() 输出的所有数据点与原始数据集在数值上完全一致。</a:t>
            </a:r>
            <a:endParaRPr lang="en-US" sz="1100"/>
          </a:p>
          <a:p>
            <a:pPr indent="0" algn="l">
              <a:lnSpc>
                <a:spcPct val="133333"/>
              </a:lnSpc>
              <a:spcBef>
                <a:spcPts val="40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✅ 跳读解码准确性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decodeSampled() 在所有指定的目标索引处，返回值与原始值严格匹配，无任何数据失真。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方案一 — 测试结果（全量 432,000 值, interval=64）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89000" y="1905000"/>
          <a:ext cx="5080000" cy="35255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Step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目标值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Speedup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解码(全)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解码(Skip)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节省率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216K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6.91M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0.6x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1.38M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8.6K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2.0x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276K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36%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4.3K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4.6x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134K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69%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78D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864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23.0x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432K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26.8K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DC262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93.8%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6350000" y="1651000"/>
            <a:ext cx="5080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905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035800" y="18796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关键结论分析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2540000"/>
            <a:ext cx="4572000" cy="10795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2794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02500" y="26670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当降采样步长为</a:t>
            </a:r>
            <a:r>
              <a:rPr lang="en-US" sz="14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500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时，性能收益达到峰值：解码速度提升</a:t>
            </a:r>
            <a:r>
              <a:rPr lang="en-US" sz="1400" b="1" i="0" u="none" strike="noStrike">
                <a:solidFill>
                  <a:srgbClr val="D92D20"/>
                </a:solidFill>
                <a:latin typeface="Noto Sans SC"/>
                <a:ea typeface="Noto Sans SC"/>
                <a:cs typeface="Noto Sans SC"/>
                <a:sym typeface="Noto Sans SC"/>
              </a:rPr>
              <a:t>23倍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，且实际解码计算量减少了</a:t>
            </a:r>
            <a:r>
              <a:rPr lang="en-US" sz="1400" b="1" i="0" u="none" strike="noStrike">
                <a:solidFill>
                  <a:srgbClr val="D92D20"/>
                </a:solidFill>
                <a:latin typeface="Noto Sans SC"/>
                <a:ea typeface="Noto Sans SC"/>
                <a:cs typeface="Noto Sans SC"/>
                <a:sym typeface="Noto Sans SC"/>
              </a:rPr>
              <a:t>93.8%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，大幅降低了CPU负载。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3810000"/>
            <a:ext cx="4572000" cy="1079500"/>
          </a:xfrm>
          <a:prstGeom prst="roundRect">
            <a:avLst>
              <a:gd name="adj" fmla="val 705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4064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302500" y="39370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优化效果存在明显的“拐点”。实验数据表明，当步长超过</a:t>
            </a: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50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后，加速比开始显著上升，证明Resync Marker机制在大步长场景下效率最优。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0" y="5080000"/>
            <a:ext cx="4572000" cy="1016000"/>
          </a:xfrm>
          <a:prstGeom prst="roundRect">
            <a:avLst>
              <a:gd name="adj" fmla="val 750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1000" y="53086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02500" y="5207000"/>
            <a:ext cx="368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局限性：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本方案仅解决了第③层（GORILLA解码）的瓶颈。数据读取(I/O)和解压(SNAPPY)依然是全量开销，未被优化。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方案二 — 多分辨率 Compaction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19558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现有局限性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方案一仅优化了解码层的计算开销，但数据读取和压缩算法（如SNAPPY）的解压过程依然是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全量执行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的，无法避免I/O瓶颈。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在典型的大跨度查询场景下（例如</a:t>
            </a:r>
            <a:r>
              <a:rPr lang="en-US" sz="1400" b="1" i="0" u="none" strike="noStrike">
                <a:solidFill>
                  <a:srgbClr val="D92D20"/>
                </a:solidFill>
                <a:latin typeface="Noto Sans SC"/>
                <a:ea typeface="Noto Sans SC"/>
                <a:cs typeface="Noto Sans SC"/>
                <a:sym typeface="Noto Sans SC"/>
              </a:rPr>
              <a:t>step=500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），计算得出的读取放大系数（Read Amplification）依然高达</a:t>
            </a:r>
            <a:r>
              <a:rPr lang="en-US" sz="1600" b="1" i="0" u="none" strike="noStrike">
                <a:solidFill>
                  <a:srgbClr val="D92D20"/>
                </a:solidFill>
                <a:latin typeface="Noto Sans SC"/>
                <a:ea typeface="Noto Sans SC"/>
                <a:cs typeface="Noto Sans SC"/>
                <a:sym typeface="Noto Sans SC"/>
              </a:rPr>
              <a:t>57倍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，系统性能未达最优。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68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32400" y="19558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794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在数据处理流水线的</a:t>
            </a:r>
            <a:r>
              <a:rPr lang="en-US" sz="14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Compaction (合并) 阶段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，利用系统空闲资源，预先计算并生成不同分辨率的降采样数据文件，独立存储。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600"/>
              </a:spcBef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当查询请求到达时，查询引擎根据请求中指定的聚合步长 (Step)，动态且智能地将查询路由到最匹配的预生成降采样文件，实现计算向存储的“下推”优化。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1968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915400" y="19558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路由示例 (Step=500)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794000"/>
            <a:ext cx="2794000" cy="1397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509000" y="2921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🔴 原流程 (全量处理)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读取 L0 (40MB) → 全量解压 → 解码432K点 → 最终仅保留1/500数据，绝大多数计算和IO为无效开销。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382000" y="4445000"/>
            <a:ext cx="27940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509000" y="4572000"/>
            <a:ext cx="254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🟢 优化后 (按需路由)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直接读取预生成 L100 (7KB) → 解压/解码4.3K点 → 取1/5即得结果。IO量与计算量呈数量级下降。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方案二</a:t>
            </a:r>
            <a:r>
              <a:rPr lang="en-US" sz="32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sz="32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思想借鉴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6469" r="6469"/>
          <a:stretch>
            <a:fillRect/>
          </a:stretch>
        </p:blipFill>
        <p:spPr>
          <a:xfrm>
            <a:off x="1016000" y="1905000"/>
            <a:ext cx="1397000" cy="1397000"/>
          </a:xfrm>
          <a:prstGeom prst="roundRect">
            <a:avLst>
              <a:gd name="adj" fmla="val 909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2540000" y="19685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01. Data Cube / 物化视图</a:t>
            </a:r>
            <a:br>
              <a:rPr lang="en-US" sz="20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（经典数仓思想）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5560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原问题：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在数据仓库中，对原始数据进行复杂的聚合查询时，计算开销巨大，影响查询效率。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借鉴思路：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引入“多层级预聚合”思想，将其创新性地应用于时序数据的</a:t>
            </a:r>
            <a:r>
              <a:rPr lang="en-US" sz="13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时间维度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降采样，通过提前计算，减少实时计算量。</a:t>
            </a: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核心区别：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传统Data Cube多沿业务维度（如地区、产品）进行SUM/AVG等聚合；而本方案聚焦于沿时间轴进行数据降采样（如取每N个点聚合）。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207000" cy="762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1968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02. NeaTS ICDE 2025</a:t>
            </a:r>
            <a:br>
              <a:rPr lang="en-US" sz="20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0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非线性近似 + Succinct Index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302000"/>
            <a:ext cx="4699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25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原问题：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高压缩比的复杂压缩算法通常难以支持高效的随机访问，两者往往不可兼得。</a:t>
            </a:r>
            <a:endParaRPr lang="en-US" sz="1100"/>
          </a:p>
          <a:p>
            <a:pPr indent="0" algn="l">
              <a:lnSpc>
                <a:spcPct val="112500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互补与借鉴：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在我们的L10/L100等粗粒度层级上，可叠加NeaTS提出的非线性拟合等高效压缩方法，在保证查询性能的同时进一步大幅节省存储空间。</a:t>
            </a:r>
          </a:p>
          <a:p>
            <a:pPr indent="0" algn="l">
              <a:lnSpc>
                <a:spcPct val="112500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关键差异：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NeaTS在单个文件内部通过函数近似实现压缩；本方案则是通过多文件分层来实现多分辨率存储与快速检索。</a:t>
            </a:r>
          </a:p>
          <a:p>
            <a:pPr indent="0" algn="l">
              <a:lnSpc>
                <a:spcPct val="112500"/>
              </a:lnSpc>
              <a:spcBef>
                <a:spcPts val="1000"/>
              </a:spcBef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协同定位：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方案二作用于“存储组织层”，NeaTS专注于“压缩编码层”，二者技术栈不同、层次各异，可完美结合以提升整体性能。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方案二 — 实现细节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3076"/>
            </a:avLst>
          </a:prstGeom>
          <a:solidFill>
            <a:srgbClr val="FFFFFF">
              <a:alpha val="98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9431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90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核心类 Core Classes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2921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MultiResTsFileBuilder.java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(~170行)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负责读取原始的 L0 TsFile，解析并提取数据，按照预设规则生成不同降采样率的 L10 / L100 文件。</a:t>
            </a:r>
          </a:p>
          <a:p>
            <a:pPr indent="0" algn="l">
              <a:lnSpc>
                <a:spcPct val="116666"/>
              </a:lnSpc>
              <a:spcBef>
                <a:spcPts val="2000"/>
              </a:spcBef>
            </a:pPr>
            <a:r>
              <a:rPr lang="en-US" sz="14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MultiResBenchmark.java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(~200行)</a:t>
            </a: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封装了性能对比逻辑，自动化执行单分辨率与多分辨率查询，输出延迟、吞吐量等关键指标。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3076"/>
            </a:avLst>
          </a:prstGeom>
          <a:solidFill>
            <a:srgbClr val="FFFFFF">
              <a:alpha val="98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9431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80000" y="190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文件结构 File Structure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794000"/>
            <a:ext cx="2921000" cy="1651000"/>
          </a:xfrm>
          <a:prstGeom prst="roundRect">
            <a:avLst>
              <a:gd name="adj" fmla="val 307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762500" y="29210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100" b="0" i="0" u="none" strike="noStrike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rPr>
              <a:t>tsfile_multi/ (30 设备 × 3 = 90 文件)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  <a:t>├─ d_000_L0.tsfile = 40.2 MB (Full)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  <a:t>├─ d_000_L10.tsfile = 23.5 KB (10×)</a:t>
            </a: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Consolas"/>
                <a:ea typeface="Consolas"/>
                <a:cs typeface="Consolas"/>
                <a:sym typeface="Consolas"/>
              </a:rPr>
              <a:t>└─ d_000_L100.tsfile = 6.9 KB (100×)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635500" y="4699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总额外存储开销仅占原始数据的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36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0.1%</a:t>
            </a:r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几乎可忽略不计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3076"/>
            </a:avLst>
          </a:prstGeom>
          <a:solidFill>
            <a:srgbClr val="FFFFFF">
              <a:alpha val="98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28000" y="1778000"/>
            <a:ext cx="3302000" cy="762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9431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1905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9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路由逻辑 Routing Logic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18500" y="2794000"/>
            <a:ext cx="2921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步长 ≤ 1: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访问 L0 (全分辨率，精度最高)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1 &lt; 步长 ≤ 10: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访问 L10 (平衡精度与性能)</a:t>
            </a:r>
          </a:p>
          <a:p>
            <a:pPr indent="0" algn="l">
              <a:lnSpc>
                <a:spcPct val="133333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步长 &gt; 10: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访问 L100 (大幅降低IO开销)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318500" y="4953000"/>
            <a:ext cx="2921000" cy="1016000"/>
          </a:xfrm>
          <a:prstGeom prst="roundRect">
            <a:avLst>
              <a:gd name="adj" fmla="val 75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445500" y="5080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💡 实现优势：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无需修改 TsFile JAR 核心源码，仅在查询上层增加逻辑，保证了系统稳定性与可维护性。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方案二</a:t>
            </a:r>
            <a:r>
              <a:rPr lang="en-US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sz="32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测试结果（全量</a:t>
            </a:r>
            <a:r>
              <a:rPr lang="en-US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30 </a:t>
            </a:r>
            <a:r>
              <a:rPr lang="en-US" sz="3200" b="1" i="0" u="none" strike="noStrik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设备</a:t>
            </a:r>
            <a:r>
              <a:rPr lang="en-US" sz="3200" b="1" i="0" u="none" strike="noStrik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, 432K 值）</a:t>
            </a:r>
            <a:endParaRPr 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524000"/>
          <a:ext cx="10668000" cy="292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Step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路由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加速比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解码节省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Amp(单)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Amp(多)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改善幅度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8D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9.3x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11.6x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0.007x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99.9%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9.0x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58.2x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0.007x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99.9%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L100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31.9x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99%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291.0x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0.001x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91C1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L100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24.9x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99%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B91C1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2910.1x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0.496x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5016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48260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读取放大 (RA) 优化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</a:t>
            </a:r>
            <a:r>
              <a:rPr lang="en-US" sz="1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2910x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降至</a:t>
            </a:r>
            <a:r>
              <a:rPr lang="en-US" sz="12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0.5x</a:t>
            </a: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几乎完全消除 I/O 与计算浪费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5016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461000" y="48260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极低的存储成本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仅增加</a:t>
            </a:r>
            <a:r>
              <a:rPr lang="en-US" sz="14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0.1%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的额外存储空间</a:t>
            </a: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高性能与低开销完美平衡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0" y="4572000"/>
            <a:ext cx="3302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5016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144000" y="4826000"/>
            <a:ext cx="203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系统性瓶颈突破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同时解决 I/O、解压、解码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三层关键性能瓶颈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两个方案 — 不同层次，不同效果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3556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76400"/>
            <a:ext cx="520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方案一 (Resync Marker) · 编码层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540000"/>
            <a:ext cx="4826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修复范围：</a:t>
            </a:r>
            <a:r>
              <a:rPr lang="en-US" sz="14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仅覆盖</a:t>
            </a:r>
            <a:r>
              <a:rPr lang="en-US" sz="14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③ GORILLA </a:t>
            </a:r>
            <a:r>
              <a:rPr lang="en-US" sz="14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解码环节，未涉及</a:t>
            </a:r>
            <a:r>
              <a:rPr lang="en-US" sz="14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I/O </a:t>
            </a:r>
            <a:r>
              <a:rPr lang="en-US" sz="14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与解压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读取放大</a:t>
            </a:r>
            <a:r>
              <a:rPr lang="en-US" sz="14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(Read Amp)：</a:t>
            </a:r>
            <a:r>
              <a:rPr lang="en-US" sz="1600" b="1" i="0" u="none" strike="noStrike" dirty="0">
                <a:solidFill>
                  <a:srgbClr val="D93025"/>
                </a:solidFill>
                <a:latin typeface="Noto Sans SC"/>
                <a:ea typeface="Noto Sans SC"/>
                <a:cs typeface="Noto Sans SC"/>
                <a:sym typeface="Noto Sans SC"/>
              </a:rPr>
              <a:t>57×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仅解码效率改善，开销依然巨大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r>
              <a:rPr lang="en-US" sz="14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存储额外开销</a:t>
            </a:r>
            <a:r>
              <a:rPr lang="en-US" sz="14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00" b="1" i="0" u="none" strike="noStrike" dirty="0">
                <a:solidFill>
                  <a:srgbClr val="D93025"/>
                </a:solidFill>
                <a:latin typeface="Noto Sans SC"/>
                <a:ea typeface="Noto Sans SC"/>
                <a:cs typeface="Noto Sans SC"/>
                <a:sym typeface="Noto Sans SC"/>
              </a:rPr>
              <a:t>+12%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因引入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Marker 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元数据带来的额外存储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3556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762000"/>
          </a:xfrm>
          <a:prstGeom prst="roundRect">
            <a:avLst>
              <a:gd name="adj" fmla="val 13333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223000" y="1676400"/>
            <a:ext cx="520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方案二 (多分辨率) · 存储层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13500" y="2540000"/>
            <a:ext cx="4826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修复范围：</a:t>
            </a:r>
            <a:r>
              <a:rPr lang="en-US" sz="14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覆盖全链路优化</a:t>
            </a:r>
            <a:r>
              <a:rPr lang="en-US" sz="14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：① I/O + ② </a:t>
            </a:r>
            <a:r>
              <a:rPr lang="en-US" sz="14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解压</a:t>
            </a:r>
            <a:r>
              <a:rPr lang="en-US" sz="1400" b="0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+ ③ </a:t>
            </a:r>
            <a:r>
              <a:rPr lang="en-US" sz="1400" b="0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解码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读取放大</a:t>
            </a:r>
            <a:r>
              <a:rPr lang="en-US" sz="14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(Read Amp)：</a:t>
            </a:r>
            <a:r>
              <a:rPr lang="en-US" sz="1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0.5×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根本性降低全链路开销，效果显著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存储额外开销</a:t>
            </a:r>
            <a:r>
              <a:rPr lang="en-US" sz="14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16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+0.1%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仅增加极少量降采样索引文件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endParaRPr lang="en-US" sz="1400" b="1" i="0" u="none" strike="noStrike" dirty="0">
              <a:solidFill>
                <a:srgbClr val="10B98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651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486400"/>
            <a:ext cx="9652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关键洞察：互补而非替代，叠加实现极致优化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方案一解决解码单点效率，方案二解决全链路架构瓶颈。将两者叠加后，预计可将读取放大 (Read Amplification) 进一步降低至约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0.1×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，实现“存储与计算”双重降本增效的最优解。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集成到 TsFile 主分支 + 未来工作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968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930400"/>
            <a:ext cx="2413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方案一：编码器层集成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921000"/>
            <a:ext cx="2921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核心代码修改：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GorillaEncoderV1.java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：新增多分辨率编码逻辑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GorillaDecoderV1.java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：支持多分辨率解码与读取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PageHeader.java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：新增多分辨率 Marker 标记位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TSFileConfig.java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：添加 Marker 采样间隔的可配置项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1968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43500" y="1930400"/>
            <a:ext cx="2413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方案二：Compaction 框架集成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921000"/>
            <a:ext cx="2921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核心架构增强：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MergeFileTask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：重构合并逻辑，增加多分辨率文件生成能力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TsFileReader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：增加路由逻辑，根据查询范围自动匹配最佳分辨率</a:t>
            </a: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0" i="0" u="none" strike="noStrike">
                <a:solidFill>
                  <a:srgbClr val="4B5563"/>
                </a:solidFill>
                <a:latin typeface="Roboto Mono"/>
                <a:ea typeface="Roboto Mono"/>
                <a:cs typeface="Roboto Mono"/>
                <a:sym typeface="Roboto Mono"/>
              </a:rPr>
              <a:t>TsFileMetaData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：扩展元数据结构，记录各分辨率的索引信息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889000"/>
          </a:xfrm>
          <a:prstGeom prst="roundRect">
            <a:avLst>
              <a:gd name="adj" fmla="val 0"/>
            </a:avLst>
          </a:prstGeom>
          <a:solidFill>
            <a:srgbClr val="1E40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1968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26500" y="1930400"/>
            <a:ext cx="2413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未来工作与展望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2921000"/>
            <a:ext cx="2921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01. 大规模数据验证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在10亿点级别的海量时序数据集上，全方位验证方案的压缩率、读写性能与系统可扩展性。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02. 前沿算法融合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探索将非线性拟合等先进压缩算法与多分辨率方案结合，进一步优化存储密度。</a:t>
            </a:r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03. 混合方案叠加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实现“编码层”与“框架层”方案的叠加部署，探索 TsFile 性能优化的理论极限。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4117</Words>
  <Application>Microsoft Office PowerPoint</Application>
  <PresentationFormat>宽屏</PresentationFormat>
  <Paragraphs>760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Noto Sans SC</vt:lpstr>
      <vt:lpstr>Arial</vt:lpstr>
      <vt:lpstr>Consolas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hao dong</cp:lastModifiedBy>
  <cp:revision>3</cp:revision>
  <dcterms:modified xsi:type="dcterms:W3CDTF">2026-05-18T06:20:01Z</dcterms:modified>
</cp:coreProperties>
</file>